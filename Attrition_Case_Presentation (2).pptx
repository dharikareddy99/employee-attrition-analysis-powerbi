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Bey7Cf5uaId1eDZMrG4Z78Z9q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36AE18-BA13-4F67-99B1-E2EC51A3395E}">
  <a:tblStyle styleId="{9A36AE18-BA13-4F67-99B1-E2EC51A339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AD-464F-9CD0-247C5514BEC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BAD-464F-9CD0-247C5514BEC6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AD-464F-9CD0-247C5514BEC6}"/>
              </c:ext>
            </c:extLst>
          </c:dPt>
          <c:dPt>
            <c:idx val="3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AD-464F-9CD0-247C5514BEC6}"/>
              </c:ext>
            </c:extLst>
          </c:dPt>
          <c:dPt>
            <c:idx val="4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AD-464F-9CD0-247C5514BEC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0-1 yrs</c:v>
                </c:pt>
                <c:pt idx="1">
                  <c:v>2-3 yrs</c:v>
                </c:pt>
                <c:pt idx="2">
                  <c:v>4-5 yrs</c:v>
                </c:pt>
                <c:pt idx="3">
                  <c:v>6-10 yrs</c:v>
                </c:pt>
                <c:pt idx="4">
                  <c:v>11+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34.880000000000003</c:v>
                </c:pt>
                <c:pt idx="1">
                  <c:v>18.43</c:v>
                </c:pt>
                <c:pt idx="2">
                  <c:v>13.07</c:v>
                </c:pt>
                <c:pt idx="3">
                  <c:v>12.28</c:v>
                </c:pt>
                <c:pt idx="4">
                  <c:v>8.1300000000000008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AD-464F-9CD0-247C5514BE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Company average (16.12%)</c:v>
                </c:pt>
              </c:strCache>
            </c:strRef>
          </c:tx>
          <c:spPr>
            <a:ln w="25400" cap="flat">
              <a:solidFill>
                <a:srgbClr val="66788A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0-1 yrs</c:v>
                </c:pt>
                <c:pt idx="1">
                  <c:v>2-3 yrs</c:v>
                </c:pt>
                <c:pt idx="2">
                  <c:v>4-5 yrs</c:v>
                </c:pt>
                <c:pt idx="3">
                  <c:v>6-10 yrs</c:v>
                </c:pt>
                <c:pt idx="4">
                  <c:v>11+ yrs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16.12</c:v>
                </c:pt>
                <c:pt idx="1">
                  <c:v>16.12</c:v>
                </c:pt>
                <c:pt idx="2">
                  <c:v>16.12</c:v>
                </c:pt>
                <c:pt idx="3">
                  <c:v>16.12</c:v>
                </c:pt>
                <c:pt idx="4">
                  <c:v>16.12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BAD-464F-9CD0-247C5514B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88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 band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C2-4904-A588-641ACEB2BE3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6C2-4904-A588-641ACEB2BE3D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C2-4904-A588-641ACEB2BE3D}"/>
              </c:ext>
            </c:extLst>
          </c:dPt>
          <c:dPt>
            <c:idx val="3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C2-4904-A588-641ACEB2BE3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6C2-4904-A588-641ACEB2BE3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25 or younger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35.770000000000003</c:v>
                </c:pt>
                <c:pt idx="1">
                  <c:v>19.14</c:v>
                </c:pt>
                <c:pt idx="2">
                  <c:v>9.19</c:v>
                </c:pt>
                <c:pt idx="3">
                  <c:v>11.5</c:v>
                </c:pt>
                <c:pt idx="4">
                  <c:v>17.02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6C2-4904-A588-641ACEB2BE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Marital status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CB-445E-A152-C03919DF935E}"/>
              </c:ext>
            </c:extLst>
          </c:dPt>
          <c:dPt>
            <c:idx val="1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CB-445E-A152-C03919DF935E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CB-445E-A152-C03919DF935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25.53</c:v>
                </c:pt>
                <c:pt idx="1">
                  <c:v>12.48</c:v>
                </c:pt>
                <c:pt idx="2">
                  <c:v>10.09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CB-445E-A152-C03919DF93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with current manager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8F5-4712-9935-7E0235605CB3}"/>
              </c:ext>
            </c:extLst>
          </c:dPt>
          <c:dPt>
            <c:idx val="1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F5-4712-9935-7E0235605CB3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F5-4712-9935-7E0235605CB3}"/>
              </c:ext>
            </c:extLst>
          </c:dPt>
          <c:dPt>
            <c:idx val="3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F5-4712-9935-7E0235605CB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0-1</c:v>
                </c:pt>
                <c:pt idx="1">
                  <c:v>2-3</c:v>
                </c:pt>
                <c:pt idx="2">
                  <c:v>4-5</c:v>
                </c:pt>
                <c:pt idx="3">
                  <c:v>6+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28.32</c:v>
                </c:pt>
                <c:pt idx="1">
                  <c:v>14.2</c:v>
                </c:pt>
                <c:pt idx="2">
                  <c:v>11.63</c:v>
                </c:pt>
                <c:pt idx="3">
                  <c:v>11.05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8F5-4712-9935-7E0235605C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 satisfaction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DE-467D-BC8A-11B3D36EB265}"/>
              </c:ext>
            </c:extLst>
          </c:dPt>
          <c:dPt>
            <c:idx val="1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DE-467D-BC8A-11B3D36EB265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DE-467D-BC8A-11B3D36EB265}"/>
              </c:ext>
            </c:extLst>
          </c:dPt>
          <c:dPt>
            <c:idx val="3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7DE-467D-BC8A-11B3D36EB26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25.21</c:v>
                </c:pt>
                <c:pt idx="1">
                  <c:v>14.95</c:v>
                </c:pt>
                <c:pt idx="2">
                  <c:v>13.78</c:v>
                </c:pt>
                <c:pt idx="3">
                  <c:v>13.42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DE-467D-BC8A-11B3D36EB2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satisfaction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C8-4F8E-9D1C-4EF6B4083E5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AC8-4F8E-9D1C-4EF6B4083E5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AC8-4F8E-9D1C-4EF6B4083E53}"/>
              </c:ext>
            </c:extLst>
          </c:dPt>
          <c:dPt>
            <c:idx val="3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C8-4F8E-9D1C-4EF6B4083E5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22.91</c:v>
                </c:pt>
                <c:pt idx="1">
                  <c:v>16.43</c:v>
                </c:pt>
                <c:pt idx="2">
                  <c:v>16.55</c:v>
                </c:pt>
                <c:pt idx="3">
                  <c:v>11.41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C8-4F8E-9D1C-4EF6B4083E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Work-life balance</c:v>
                </c:pt>
              </c:strCache>
            </c:strRef>
          </c:tx>
          <c:spPr>
            <a:solidFill>
              <a:srgbClr val="D978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78-4B0D-8393-993AB12EC9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78-4B0D-8393-993AB12EC919}"/>
              </c:ext>
            </c:extLst>
          </c:dPt>
          <c:dPt>
            <c:idx val="2"/>
            <c:invertIfNegative val="0"/>
            <c:bubble3D val="0"/>
            <c:spPr>
              <a:solidFill>
                <a:srgbClr val="7F9D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78-4B0D-8393-993AB12EC9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C78-4B0D-8393-993AB12EC9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Bad</c:v>
                </c:pt>
                <c:pt idx="1">
                  <c:v>Good</c:v>
                </c:pt>
                <c:pt idx="2">
                  <c:v>Better</c:v>
                </c:pt>
                <c:pt idx="3">
                  <c:v>Best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31.38</c:v>
                </c:pt>
                <c:pt idx="1">
                  <c:v>16.78</c:v>
                </c:pt>
                <c:pt idx="2">
                  <c:v>14.29</c:v>
                </c:pt>
                <c:pt idx="3">
                  <c:v>17.84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78-4B0D-8393-993AB12EC9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low scores (0 to 3)</c:v>
                </c:pt>
              </c:strCache>
            </c:strRef>
          </c:tx>
          <c:spPr>
            <a:solidFill>
              <a:srgbClr val="7F9D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DE-4D4E-A5E9-054D3B2CF555}"/>
              </c:ext>
            </c:extLst>
          </c:dPt>
          <c:dPt>
            <c:idx val="1"/>
            <c:invertIfNegative val="0"/>
            <c:bubble3D val="0"/>
            <c:spPr>
              <a:solidFill>
                <a:srgbClr val="D978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DE-4D4E-A5E9-054D3B2CF555}"/>
              </c:ext>
            </c:extLst>
          </c:dPt>
          <c:dPt>
            <c:idx val="2"/>
            <c:invertIfNegative val="0"/>
            <c:bubble3D val="0"/>
            <c:spPr>
              <a:solidFill>
                <a:srgbClr val="D978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DE-4D4E-A5E9-054D3B2CF555}"/>
              </c:ext>
            </c:extLst>
          </c:dPt>
          <c:dPt>
            <c:idx val="3"/>
            <c:invertIfNegative val="0"/>
            <c:bubble3D val="0"/>
            <c:spPr>
              <a:solidFill>
                <a:srgbClr val="D978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DE-4D4E-A5E9-054D3B2CF55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12.07</c:v>
                </c:pt>
                <c:pt idx="1">
                  <c:v>20.14</c:v>
                </c:pt>
                <c:pt idx="2">
                  <c:v>37.22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DE-4D4E-A5E9-054D3B2CF5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Travel</c:v>
                </c:pt>
              </c:strCache>
            </c:strRef>
          </c:tx>
          <c:spPr>
            <a:solidFill>
              <a:srgbClr val="7F9D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E5-4091-A3DA-C9E959F19B6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AE5-4091-A3DA-C9E959F19B62}"/>
              </c:ext>
            </c:extLst>
          </c:dPt>
          <c:dPt>
            <c:idx val="2"/>
            <c:invertIfNegative val="0"/>
            <c:bubble3D val="0"/>
            <c:spPr>
              <a:solidFill>
                <a:srgbClr val="D978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E5-4091-A3DA-C9E959F19B6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Non-travel</c:v>
                </c:pt>
                <c:pt idx="1">
                  <c:v>Travel rarely</c:v>
                </c:pt>
                <c:pt idx="2">
                  <c:v>Travel frequently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14.96</c:v>
                </c:pt>
                <c:pt idx="2">
                  <c:v>24.91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E5-4091-A3DA-C9E959F19B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788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4e24fbb2b5b311e4_0_970"/>
          <p:cNvSpPr txBox="1"/>
          <p:nvPr>
            <p:ph type="title"/>
          </p:nvPr>
        </p:nvSpPr>
        <p:spPr>
          <a:xfrm>
            <a:off x="822960" y="2011680"/>
            <a:ext cx="9601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mbria"/>
              <a:buNone/>
              <a:defRPr b="1" i="0" sz="4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/>
        </p:txBody>
      </p:sp>
      <p:sp>
        <p:nvSpPr>
          <p:cNvPr id="15" name="Google Shape;15;h4e24fbb2b5b311e4_0_970"/>
          <p:cNvSpPr txBox="1"/>
          <p:nvPr>
            <p:ph idx="1" type="body"/>
          </p:nvPr>
        </p:nvSpPr>
        <p:spPr>
          <a:xfrm>
            <a:off x="822960" y="3840480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4e24fbb2b5b311e4_0_973"/>
          <p:cNvSpPr txBox="1"/>
          <p:nvPr>
            <p:ph type="title"/>
          </p:nvPr>
        </p:nvSpPr>
        <p:spPr>
          <a:xfrm>
            <a:off x="548640" y="320040"/>
            <a:ext cx="11064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/>
        </p:txBody>
      </p:sp>
      <p:sp>
        <p:nvSpPr>
          <p:cNvPr id="18" name="Google Shape;18;h4e24fbb2b5b311e4_0_973"/>
          <p:cNvSpPr txBox="1"/>
          <p:nvPr>
            <p:ph idx="1" type="body"/>
          </p:nvPr>
        </p:nvSpPr>
        <p:spPr>
          <a:xfrm>
            <a:off x="548640" y="1261872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h4e24fbb2b5b311e4_0_973"/>
          <p:cNvSpPr txBox="1"/>
          <p:nvPr>
            <p:ph idx="12" type="sldNum"/>
          </p:nvPr>
        </p:nvSpPr>
        <p:spPr>
          <a:xfrm>
            <a:off x="11155680" y="6419088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4e24fbb2b5b311e4_0_978"/>
          <p:cNvSpPr txBox="1"/>
          <p:nvPr>
            <p:ph type="title"/>
          </p:nvPr>
        </p:nvSpPr>
        <p:spPr>
          <a:xfrm>
            <a:off x="822960" y="1005840"/>
            <a:ext cx="9875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/>
        </p:txBody>
      </p:sp>
      <p:sp>
        <p:nvSpPr>
          <p:cNvPr id="22" name="Google Shape;22;h4e24fbb2b5b311e4_0_978"/>
          <p:cNvSpPr txBox="1"/>
          <p:nvPr>
            <p:ph idx="1" type="body"/>
          </p:nvPr>
        </p:nvSpPr>
        <p:spPr>
          <a:xfrm>
            <a:off x="822960" y="3383280"/>
            <a:ext cx="9875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4e24fbb2b5b311e4_0_92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5" name="Google Shape;25;h4e24fbb2b5b311e4_0_92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6" name="Google Shape;26;h4e24fbb2b5b311e4_0_9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h4e24fbb2b5b311e4_0_93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h4e24fbb2b5b311e4_0_9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4e24fbb2b5b311e4_0_9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h4e24fbb2b5b311e4_0_9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3" name="Google Shape;33;h4e24fbb2b5b311e4_0_9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4e24fbb2b5b311e4_0_94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6" name="Google Shape;36;h4e24fbb2b5b311e4_0_94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h4e24fbb2b5b311e4_0_94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h4e24fbb2b5b311e4_0_9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4e24fbb2b5b311e4_0_94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" name="Google Shape;41;h4e24fbb2b5b311e4_0_9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h4e24fbb2b5b311e4_0_94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4" name="Google Shape;44;h4e24fbb2b5b311e4_0_94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h4e24fbb2b5b311e4_0_9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h4e24fbb2b5b311e4_0_95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8" name="Google Shape;48;h4e24fbb2b5b311e4_0_9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4e24fbb2b5b311e4_0_95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4e24fbb2b5b311e4_0_95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2" name="Google Shape;52;h4e24fbb2b5b311e4_0_95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h4e24fbb2b5b311e4_0_95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4" name="Google Shape;54;h4e24fbb2b5b311e4_0_9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4e24fbb2b5b311e4_0_9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e24fbb2b5b311e4_0_96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9" name="Google Shape;59;h4e24fbb2b5b311e4_0_96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0" name="Google Shape;60;h4e24fbb2b5b311e4_0_9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4e24fbb2b5b311e4_0_9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4e24fbb2b5b311e4_0_9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pc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h4e24fbb2b5b311e4_0_9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pc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pc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h4e24fbb2b5b311e4_0_9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pc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9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DE7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title"/>
          </p:nvPr>
        </p:nvSpPr>
        <p:spPr>
          <a:xfrm>
            <a:off x="822960" y="2011680"/>
            <a:ext cx="9601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chemeClr val="dk1"/>
                </a:solidFill>
              </a:rPr>
              <a:t>Employee attrition: who leaves, and where to listen first</a:t>
            </a:r>
            <a:endParaRPr sz="4600"/>
          </a:p>
        </p:txBody>
      </p:sp>
      <p:sp>
        <p:nvSpPr>
          <p:cNvPr id="69" name="Google Shape;69;p1"/>
          <p:cNvSpPr/>
          <p:nvPr/>
        </p:nvSpPr>
        <p:spPr>
          <a:xfrm>
            <a:off x="9601200" y="-1554480"/>
            <a:ext cx="4389120" cy="4389120"/>
          </a:xfrm>
          <a:prstGeom prst="ellipse">
            <a:avLst/>
          </a:prstGeom>
          <a:solidFill>
            <a:schemeClr val="accent1">
              <a:alpha val="34902"/>
            </a:schemeClr>
          </a:solidFill>
          <a:ln cap="flat" cmpd="sng" w="12700">
            <a:solidFill>
              <a:schemeClr val="accent1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607040" y="4846320"/>
            <a:ext cx="3108960" cy="3108960"/>
          </a:xfrm>
          <a:prstGeom prst="ellipse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Attrition is concentrated in specific employee segments</a:t>
            </a:r>
            <a:endParaRPr sz="3000"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First the size of the problem, then where it sits</a:t>
            </a:r>
            <a:endParaRPr sz="1600"/>
          </a:p>
        </p:txBody>
      </p:sp>
      <p:sp>
        <p:nvSpPr>
          <p:cNvPr id="78" name="Google Shape;78;p3"/>
          <p:cNvSpPr/>
          <p:nvPr/>
        </p:nvSpPr>
        <p:spPr>
          <a:xfrm>
            <a:off x="548640" y="1783080"/>
            <a:ext cx="2560320" cy="1371600"/>
          </a:xfrm>
          <a:prstGeom prst="roundRect">
            <a:avLst>
              <a:gd fmla="val 5333" name="adj"/>
            </a:avLst>
          </a:prstGeom>
          <a:solidFill>
            <a:schemeClr val="accent3">
              <a:alpha val="34902"/>
            </a:schemeClr>
          </a:solidFill>
          <a:ln cap="flat" cmpd="sng" w="12700">
            <a:solidFill>
              <a:schemeClr val="accent3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731520" y="18745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pc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4,410</a:t>
            </a:r>
            <a:endParaRPr b="0" i="0" spc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employee records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355848" y="1783080"/>
            <a:ext cx="2560320" cy="1371600"/>
          </a:xfrm>
          <a:prstGeom prst="roundRect">
            <a:avLst>
              <a:gd fmla="val 5333" name="adj"/>
            </a:avLst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3538728" y="18745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pc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711</a:t>
            </a:r>
            <a:endParaRPr b="0" i="0" spc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538728" y="26517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Leavers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163056" y="1783080"/>
            <a:ext cx="2560320" cy="1371600"/>
          </a:xfrm>
          <a:prstGeom prst="roundRect">
            <a:avLst>
              <a:gd fmla="val 5333" name="adj"/>
            </a:avLst>
          </a:prstGeom>
          <a:solidFill>
            <a:schemeClr val="accent4">
              <a:alpha val="34902"/>
            </a:schemeClr>
          </a:solidFill>
          <a:ln cap="flat" cmpd="sng" w="12700">
            <a:solidFill>
              <a:schemeClr val="accent4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345936" y="18745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pc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16.12%</a:t>
            </a:r>
            <a:endParaRPr b="0" i="0" spc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345936" y="26517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attrition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970264" y="1783080"/>
            <a:ext cx="2560320" cy="1371600"/>
          </a:xfrm>
          <a:prstGeom prst="roundRect">
            <a:avLst>
              <a:gd fmla="val 5333" name="adj"/>
            </a:avLst>
          </a:prstGeom>
          <a:solidFill>
            <a:schemeClr val="accent1">
              <a:alpha val="34902"/>
            </a:schemeClr>
          </a:solidFill>
          <a:ln cap="flat" cmpd="sng" w="12700">
            <a:solidFill>
              <a:schemeClr val="accent1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9153144" y="18745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93D"/>
              </a:buClr>
              <a:buSzPts val="4000"/>
              <a:buFont typeface="Calibri"/>
              <a:buNone/>
            </a:pPr>
            <a:r>
              <a:rPr b="1" i="0" lang="en-US" spc="0" sz="4000" u="none" cap="none" strike="noStrike">
                <a:solidFill>
                  <a:srgbClr val="B8493D"/>
                </a:solidFill>
                <a:latin typeface="Calibri"/>
                <a:ea typeface="Calibri"/>
                <a:cs typeface="Calibri"/>
                <a:sym typeface="Calibri"/>
              </a:rPr>
              <a:t>34.9%</a:t>
            </a:r>
            <a:endParaRPr b="0" i="0" spc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9153144" y="26517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First-year attrition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findings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1234440" y="38404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tenure is a priority area.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1234440" y="42062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First-year attrition is 34.9%, about 2.2 times the company rate.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8640" y="4718304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548640" y="47183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234440" y="464515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Work-life balance and business travel warrant investigation.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1234440" y="501091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Bad work-life balance 31.4%; frequent travellers 24.9%.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5522976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48640" y="5522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234440" y="5449824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should guide targeted action.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234440" y="5815584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 assumptions about individual employees.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First-year employees experience substantially higher attrition</a:t>
            </a:r>
            <a:endParaRPr sz="3000"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First-year attrition is 34.9%, against 16.12% for the whole company</a:t>
            </a:r>
            <a:endParaRPr sz="1600"/>
          </a:p>
        </p:txBody>
      </p:sp>
      <p:sp>
        <p:nvSpPr>
          <p:cNvPr id="111" name="Google Shape;111;p5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Attrition rate by tenure band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5"/>
          <p:cNvGraphicFramePr/>
          <p:nvPr/>
        </p:nvGraphicFramePr>
        <p:xfrm>
          <a:off x="457200" y="2103125"/>
          <a:ext cx="6626700" cy="3649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3" name="Google Shape;113;p5"/>
          <p:cNvSpPr/>
          <p:nvPr/>
        </p:nvSpPr>
        <p:spPr>
          <a:xfrm>
            <a:off x="7498080" y="2171700"/>
            <a:ext cx="4114800" cy="1051500"/>
          </a:xfrm>
          <a:prstGeom prst="roundRect">
            <a:avLst>
              <a:gd fmla="val 6957" name="adj"/>
            </a:avLst>
          </a:prstGeom>
          <a:solidFill>
            <a:schemeClr val="accent1">
              <a:alpha val="34902"/>
            </a:schemeClr>
          </a:solidFill>
          <a:ln cap="flat" cmpd="sng" w="12700">
            <a:solidFill>
              <a:schemeClr val="accent1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7680960" y="2217420"/>
            <a:ext cx="1737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93D"/>
              </a:buClr>
              <a:buSzPts val="3200"/>
              <a:buFont typeface="Calibri"/>
              <a:buNone/>
            </a:pPr>
            <a:r>
              <a:rPr b="1" i="0" lang="en-US" spc="0" sz="3200" u="none" cap="none" strike="noStrike">
                <a:solidFill>
                  <a:srgbClr val="B8493D"/>
                </a:solidFill>
                <a:latin typeface="Calibri"/>
                <a:ea typeface="Calibri"/>
                <a:cs typeface="Calibri"/>
                <a:sym typeface="Calibri"/>
              </a:rPr>
              <a:t>34.9%</a:t>
            </a:r>
            <a:endParaRPr b="0" i="0" spc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9418320" y="221742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First-year attrition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498080" y="3360420"/>
            <a:ext cx="4114800" cy="1051500"/>
          </a:xfrm>
          <a:prstGeom prst="roundRect">
            <a:avLst>
              <a:gd fmla="val 6957" name="adj"/>
            </a:avLst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680960" y="3406140"/>
            <a:ext cx="1737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16.12%</a:t>
            </a:r>
            <a:endParaRPr b="0" i="0" spc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9418320" y="340614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attrition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498080" y="4549140"/>
            <a:ext cx="4114800" cy="1051500"/>
          </a:xfrm>
          <a:prstGeom prst="roundRect">
            <a:avLst>
              <a:gd fmla="val 6957" name="adj"/>
            </a:avLst>
          </a:prstGeom>
          <a:solidFill>
            <a:schemeClr val="accent3">
              <a:alpha val="34902"/>
            </a:schemeClr>
          </a:solidFill>
          <a:ln cap="flat" cmpd="sng" w="12700">
            <a:solidFill>
              <a:schemeClr val="accent3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680960" y="4594860"/>
            <a:ext cx="1737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31.6%</a:t>
            </a:r>
            <a:endParaRPr b="0" i="0" spc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9418320" y="459486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leavers are first-year employees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Different employee segments show different attrition patterns</a:t>
            </a:r>
            <a:endParaRPr sz="3000"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Combining age and tenure shows where the risk is sharpest</a:t>
            </a:r>
            <a:endParaRPr sz="1600"/>
          </a:p>
        </p:txBody>
      </p:sp>
      <p:sp>
        <p:nvSpPr>
          <p:cNvPr id="130" name="Google Shape;130;p6"/>
          <p:cNvSpPr txBox="1"/>
          <p:nvPr/>
        </p:nvSpPr>
        <p:spPr>
          <a:xfrm>
            <a:off x="548640" y="1737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band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457200" y="2103120"/>
          <a:ext cx="3703320" cy="1691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2" name="Google Shape;132;p6"/>
          <p:cNvSpPr txBox="1"/>
          <p:nvPr/>
        </p:nvSpPr>
        <p:spPr>
          <a:xfrm>
            <a:off x="4343400" y="1737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Marital status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6"/>
          <p:cNvGraphicFramePr/>
          <p:nvPr/>
        </p:nvGraphicFramePr>
        <p:xfrm>
          <a:off x="4251960" y="2103120"/>
          <a:ext cx="3703320" cy="16916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4" name="Google Shape;134;p6"/>
          <p:cNvSpPr txBox="1"/>
          <p:nvPr/>
        </p:nvSpPr>
        <p:spPr>
          <a:xfrm>
            <a:off x="8138160" y="1737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with current manager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6"/>
          <p:cNvGraphicFramePr/>
          <p:nvPr/>
        </p:nvGraphicFramePr>
        <p:xfrm>
          <a:off x="8046720" y="2103120"/>
          <a:ext cx="3703320" cy="169164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36" name="Google Shape;136;p6"/>
          <p:cNvSpPr/>
          <p:nvPr/>
        </p:nvSpPr>
        <p:spPr>
          <a:xfrm>
            <a:off x="7498075" y="4029275"/>
            <a:ext cx="4114800" cy="2234400"/>
          </a:xfrm>
          <a:prstGeom prst="roundRect">
            <a:avLst>
              <a:gd fmla="val 3077" name="adj"/>
            </a:avLst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7680950" y="4206250"/>
            <a:ext cx="37947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Under-25s in their first year: 62.2% (135 records).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employees: 25.5%, against 12.5% for married.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two years with the current manager: 28.3%, against 11 to 12% after four years.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Directors</a:t>
            </a: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 23.75% of attrition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48640" y="38862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Attrition rate by age and tenure band (* fewer than 50 records)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548640" y="4206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{9A36AE18-BA13-4F67-99B1-E2EC51A3395E}</a:tableStyleId>
              </a:tblPr>
              <a:tblGrid>
                <a:gridCol w="1417325"/>
                <a:gridCol w="1051550"/>
                <a:gridCol w="1051550"/>
                <a:gridCol w="1051550"/>
                <a:gridCol w="1051550"/>
                <a:gridCol w="10515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Age band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0-1 yrs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2-3 yrs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4-5 yrs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6-10 yrs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FFFFFF"/>
                          </a:solidFill>
                        </a:rPr>
                        <a:t>11+ yrs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25 or younger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62.2%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7D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25.6%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C3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8.0%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30.0%*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BA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788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66788A"/>
                          </a:solidFill>
                        </a:rPr>
                        <a:t>-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26-35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39.7%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A8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25.2%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C3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16.2%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D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14.0%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9.4%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1D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36-45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19.7%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C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8.6%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10.1%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E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5.2%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E9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7.0%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6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46-55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11.8%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D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8.6%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3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10.4%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17.4%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D2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pc="0" sz="1200" u="none" cap="none" strike="noStrike">
                          <a:solidFill>
                            <a:srgbClr val="2F3E4E"/>
                          </a:solidFill>
                        </a:rPr>
                        <a:t>7.0%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6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pc="0" sz="1200" u="none" cap="none" strike="noStrike">
                          <a:solidFill>
                            <a:srgbClr val="2F3E4E"/>
                          </a:solidFill>
                        </a:rPr>
                        <a:t>56+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22.2%*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C9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0.0%*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25.0%*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C4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18.2%*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D1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pc="0" sz="1200" u="none" cap="none" strike="noStrike">
                          <a:solidFill>
                            <a:srgbClr val="2F3E4E"/>
                          </a:solidFill>
                        </a:rPr>
                        <a:t>18.2%*</a:t>
                      </a:r>
                      <a:endParaRPr spc="0"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D1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Lower satisfaction scores go with higher attrition</a:t>
            </a:r>
            <a:endParaRPr sz="3000"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Satisfaction scores help show where employee listening could be most valuable</a:t>
            </a:r>
            <a:endParaRPr sz="1600"/>
          </a:p>
        </p:txBody>
      </p:sp>
      <p:sp>
        <p:nvSpPr>
          <p:cNvPr id="147" name="Google Shape;147;p7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 satisfaction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7"/>
          <p:cNvGraphicFramePr/>
          <p:nvPr/>
        </p:nvGraphicFramePr>
        <p:xfrm>
          <a:off x="457200" y="2084832"/>
          <a:ext cx="5394960" cy="1645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9" name="Google Shape;149;p7"/>
          <p:cNvSpPr txBox="1"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satisfaction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7"/>
          <p:cNvGraphicFramePr/>
          <p:nvPr/>
        </p:nvGraphicFramePr>
        <p:xfrm>
          <a:off x="6217920" y="2084832"/>
          <a:ext cx="5394960" cy="16459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1" name="Google Shape;151;p7"/>
          <p:cNvSpPr txBox="1"/>
          <p:nvPr/>
        </p:nvSpPr>
        <p:spPr>
          <a:xfrm>
            <a:off x="548640" y="39319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Work-life balance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7"/>
          <p:cNvGraphicFramePr/>
          <p:nvPr/>
        </p:nvGraphicFramePr>
        <p:xfrm>
          <a:off x="457200" y="4279392"/>
          <a:ext cx="5394960" cy="164592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53" name="Google Shape;153;p7"/>
          <p:cNvSpPr txBox="1"/>
          <p:nvPr/>
        </p:nvSpPr>
        <p:spPr>
          <a:xfrm>
            <a:off x="6309360" y="39319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low scores (0 to 3)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7"/>
          <p:cNvGraphicFramePr/>
          <p:nvPr/>
        </p:nvGraphicFramePr>
        <p:xfrm>
          <a:off x="6217920" y="4279392"/>
          <a:ext cx="5394960" cy="164592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155" name="Google Shape;155;p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* Only 15 records have three low scores. Work-life balance Best (17.8%) is above Better (14.3%), so Bad stands out rather than a straight line.</a:t>
            </a:r>
            <a:endParaRPr b="0" i="0" spc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Frequent travellers are about three times as likely to have left</a:t>
            </a:r>
            <a:endParaRPr sz="3000"/>
          </a:p>
        </p:txBody>
      </p:sp>
      <p:sp>
        <p:nvSpPr>
          <p:cNvPr id="163" name="Google Shape;163;p8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24.9% for frequent travellers, against 8.0% for people who do not travel</a:t>
            </a:r>
            <a:endParaRPr sz="1600"/>
          </a:p>
        </p:txBody>
      </p:sp>
      <p:sp>
        <p:nvSpPr>
          <p:cNvPr id="164" name="Google Shape;164;p8"/>
          <p:cNvSpPr txBox="1"/>
          <p:nvPr/>
        </p:nvSpPr>
        <p:spPr>
          <a:xfrm>
            <a:off x="548640" y="216521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Attrition rate by business travel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8"/>
          <p:cNvGraphicFramePr/>
          <p:nvPr/>
        </p:nvGraphicFramePr>
        <p:xfrm>
          <a:off x="457200" y="2485258"/>
          <a:ext cx="585216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6" name="Google Shape;166;p8"/>
          <p:cNvSpPr/>
          <p:nvPr/>
        </p:nvSpPr>
        <p:spPr>
          <a:xfrm>
            <a:off x="6675120" y="2210938"/>
            <a:ext cx="4937760" cy="3566160"/>
          </a:xfrm>
          <a:prstGeom prst="roundRect">
            <a:avLst>
              <a:gd fmla="val 2051" name="adj"/>
            </a:avLst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6903720" y="234809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worth investigating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6903720" y="2896738"/>
            <a:ext cx="4526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often do people in each role travel?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workload during and after trips?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flexibility and recovery time is there?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travel overlap with poor work-life balance?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What the data does and does not tell us</a:t>
            </a:r>
            <a:endParaRPr sz="3000"/>
          </a:p>
        </p:txBody>
      </p:sp>
      <p:sp>
        <p:nvSpPr>
          <p:cNvPr id="176" name="Google Shape;176;p9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Descriptive patterns in a single snapshot, not proof of cause</a:t>
            </a:r>
            <a:endParaRPr sz="1600"/>
          </a:p>
        </p:txBody>
      </p:sp>
      <p:sp>
        <p:nvSpPr>
          <p:cNvPr id="177" name="Google Shape;177;p9"/>
          <p:cNvSpPr/>
          <p:nvPr/>
        </p:nvSpPr>
        <p:spPr>
          <a:xfrm>
            <a:off x="548640" y="1828800"/>
            <a:ext cx="5440680" cy="3657600"/>
          </a:xfrm>
          <a:prstGeom prst="roundRect">
            <a:avLst>
              <a:gd fmla="val 2000" name="adj"/>
            </a:avLst>
          </a:prstGeom>
          <a:solidFill>
            <a:schemeClr val="accent1">
              <a:alpha val="25098"/>
            </a:schemeClr>
          </a:solidFill>
          <a:ln cap="flat" cmpd="sng" w="12700">
            <a:solidFill>
              <a:schemeClr val="accent1">
                <a:alpha val="2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777240" y="19659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93D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rgbClr val="B8493D"/>
                </a:solidFill>
                <a:latin typeface="Calibri"/>
                <a:ea typeface="Calibri"/>
                <a:cs typeface="Calibri"/>
                <a:sym typeface="Calibri"/>
              </a:rPr>
              <a:t>Patterns worth investigating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777240" y="246888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tenure: 34.9% in the first year.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and marital status: 35.8% for 25 or younger, 25.5% for single employees.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Satisfaction and work-life balance: Bad balance 31.4%, low environment score 25.2%.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travel: 24.9% for frequent travellers.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172200" y="1828800"/>
            <a:ext cx="5440680" cy="3657600"/>
          </a:xfrm>
          <a:prstGeom prst="roundRect">
            <a:avLst>
              <a:gd fmla="val 2000" name="adj"/>
            </a:avLst>
          </a:prstGeom>
          <a:solidFill>
            <a:schemeClr val="accent2">
              <a:alpha val="25098"/>
            </a:schemeClr>
          </a:solidFill>
          <a:ln cap="flat" cmpd="sng" w="12700">
            <a:solidFill>
              <a:schemeClr val="accent2">
                <a:alpha val="2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400800" y="19659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that do not clearly separate attrition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400800" y="246888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 income: 13.9% to 17.8% across income bands.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Salary hike: 14.7% to 17.6% across hike bands.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from home: 12.8% to 18.3% across distance bands.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Gender: 15.3% for women, 16.7% for men.</a:t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fmla="val 12308" name="adj"/>
            </a:avLst>
          </a:prstGeom>
          <a:solidFill>
            <a:schemeClr val="accent4">
              <a:alpha val="30196"/>
            </a:schemeClr>
          </a:solidFill>
          <a:ln cap="flat" cmpd="sng" w="12700">
            <a:solidFill>
              <a:schemeClr val="accent4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descriptive patterns in this dataset, not proof that a factor has no effect.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F</a:t>
            </a:r>
            <a:r>
              <a:rPr lang="en-US"/>
              <a:t>ive</a:t>
            </a:r>
            <a:r>
              <a:rPr b="1" lang="en-US" sz="3000">
                <a:solidFill>
                  <a:schemeClr val="dk1"/>
                </a:solidFill>
              </a:rPr>
              <a:t> proposals to test, not interventions proven by this data</a:t>
            </a:r>
            <a:endParaRPr sz="3000"/>
          </a:p>
        </p:txBody>
      </p:sp>
      <p:sp>
        <p:nvSpPr>
          <p:cNvPr id="192" name="Google Shape;192;p11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Each follows the same chain: finding, action, expected outcome</a:t>
            </a:r>
            <a:endParaRPr sz="1600"/>
          </a:p>
        </p:txBody>
      </p:sp>
      <p:graphicFrame>
        <p:nvGraphicFramePr>
          <p:cNvPr id="193" name="Google Shape;193;p11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{9A36AE18-BA13-4F67-99B1-E2EC51A3395E}</a:tableStyleId>
              </a:tblPr>
              <a:tblGrid>
                <a:gridCol w="3931925"/>
                <a:gridCol w="3840475"/>
                <a:gridCol w="32918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Finding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Proposed action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Expected outcome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1. Improve first-year onboarding</a:t>
                      </a:r>
                      <a:endParaRPr spc="0"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First-year attrition is 34.9% against 16.12% overall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Introduce 30, 60 and 90-day check-ins and clearer role expectations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Fewer early exits and earlier warning signs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2. Strengthen manager support</a:t>
                      </a:r>
                      <a:endParaRPr spc="0"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28.3% attrition under two years with the current manager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Review early-tenure support and manager check-ins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Smoother manager transitions and lower early-tenure attrition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3. Investigate work-life balance and travel</a:t>
                      </a:r>
                      <a:endParaRPr spc="0"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Bad balance 31.4%; frequent travel 24.9%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Run pulse surveys and listening sessions to understand the drivers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A clear view of the causes before any policy change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4. Evaluate interventions</a:t>
                      </a:r>
                      <a:endParaRPr spc="0"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A single snapshot cannot show what works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Track retention by cohort and compare results over time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Evidence on which actions improve retention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5. </a:t>
                      </a:r>
                      <a:r>
                        <a:rPr b="1" lang="en-US" sz="1300">
                          <a:solidFill>
                            <a:srgbClr val="2F3E4E"/>
                          </a:solidFill>
                        </a:rPr>
                        <a:t>Research Directors</a:t>
                      </a:r>
                      <a:r>
                        <a:rPr b="1" lang="en-US" spc="0" sz="1300" u="none" cap="none" strike="noStrike">
                          <a:solidFill>
                            <a:srgbClr val="2F3E4E"/>
                          </a:solidFill>
                        </a:rPr>
                        <a:t> show 23.75% attrition.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pc="0" sz="1300" u="none" cap="none" strike="noStrike">
                          <a:solidFill>
                            <a:srgbClr val="2F3E4E"/>
                          </a:solidFill>
                        </a:rPr>
                        <a:t>Compare tenure, satisfaction, work-life balance and manager tenure within this role; conduct targeted listening sessions.</a:t>
                      </a:r>
                      <a:endParaRPr spc="0"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300"/>
                        <a:buFont typeface="Calibri"/>
                        <a:buNone/>
                      </a:pPr>
                      <a:r>
                        <a:rPr b="0" i="0" lang="en-US" spc="0" sz="1300" u="none" cap="none" strike="noStrike">
                          <a:solidFill>
                            <a:srgbClr val="2F3E4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Identify potential drivers and establish a baseline for evaluating targeted retention actions</a:t>
                      </a:r>
                      <a:endParaRPr b="0" i="0" spc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1"/>
          <p:cNvSpPr/>
          <p:nvPr/>
        </p:nvSpPr>
        <p:spPr>
          <a:xfrm>
            <a:off x="492409" y="6246298"/>
            <a:ext cx="11064240" cy="548640"/>
          </a:xfrm>
          <a:prstGeom prst="roundRect">
            <a:avLst>
              <a:gd fmla="val 13333" name="adj"/>
            </a:avLst>
          </a:prstGeom>
          <a:solidFill>
            <a:schemeClr val="accent4">
              <a:alpha val="30196"/>
            </a:schemeClr>
          </a:solidFill>
          <a:ln cap="flat" cmpd="sng" w="12700">
            <a:solidFill>
              <a:schemeClr val="accent4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635351" y="62636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proposals to test, not interventions proven by this dataset.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type="title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</a:rPr>
              <a:t>How I would measure success</a:t>
            </a:r>
            <a:endParaRPr sz="3000"/>
          </a:p>
        </p:txBody>
      </p:sp>
      <p:sp>
        <p:nvSpPr>
          <p:cNvPr id="203" name="Google Shape;203;p12"/>
          <p:cNvSpPr txBox="1"/>
          <p:nvPr>
            <p:ph idx="1" type="body"/>
          </p:nvPr>
        </p:nvSpPr>
        <p:spPr>
          <a:xfrm>
            <a:off x="548640" y="126187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17647"/>
              <a:buNone/>
            </a:pPr>
            <a:r>
              <a:rPr lang="en-US" sz="1600">
                <a:solidFill>
                  <a:schemeClr val="dk2"/>
                </a:solidFill>
              </a:rPr>
              <a:t>Leading indicators show early whether an intervention is working; outcomes confirm it</a:t>
            </a:r>
            <a:endParaRPr sz="1600"/>
          </a:p>
        </p:txBody>
      </p:sp>
      <p:graphicFrame>
        <p:nvGraphicFramePr>
          <p:cNvPr id="204" name="Google Shape;204;p12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{9A36AE18-BA13-4F67-99B1-E2EC51A3395E}</a:tableStyleId>
              </a:tblPr>
              <a:tblGrid>
                <a:gridCol w="3291850"/>
                <a:gridCol w="3840475"/>
                <a:gridCol w="3931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Intervention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Leading indicator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FFFFFF"/>
                          </a:solidFill>
                        </a:rPr>
                        <a:t>Outcome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9DB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2F3E4E"/>
                          </a:solidFill>
                        </a:rPr>
                        <a:t>Onboarding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Check-ins and role clarity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6- and 12-month retention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2F3E4E"/>
                          </a:solidFill>
                        </a:rPr>
                        <a:t>Manager support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Check-in quality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Early-tenure attrition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2F3E4E"/>
                          </a:solidFill>
                        </a:rPr>
                        <a:t>Work-life balance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Pulse survey results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Attrition trends by segment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pc="0" sz="1400" u="none" cap="none" strike="noStrike">
                          <a:solidFill>
                            <a:srgbClr val="2F3E4E"/>
                          </a:solidFill>
                        </a:rPr>
                        <a:t>Learning intervention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Participation and completion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E4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pc="0" sz="1400" u="none" cap="none" strike="noStrike">
                          <a:solidFill>
                            <a:srgbClr val="2F3E4E"/>
                          </a:solidFill>
                        </a:rPr>
                        <a:t>Skill application and retention</a:t>
                      </a:r>
                      <a:endParaRPr spc="0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E9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2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fmla="val 4103" name="adj"/>
            </a:avLst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attributing any change to an intervention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777240" y="4937760"/>
            <a:ext cx="10424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a baseline, for example first-year attrition of 34.9% today.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cohorts consistently, such as by hire date.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an appropriate comparison group before crediting the intervention.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>
            <p:ph idx="4294967295" type="sldNum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DE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type="title"/>
          </p:nvPr>
        </p:nvSpPr>
        <p:spPr>
          <a:xfrm>
            <a:off x="822960" y="1005840"/>
            <a:ext cx="9875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dk1"/>
                </a:solidFill>
              </a:rPr>
              <a:t>“The attrition pattern helps us decide where to listen first; longitudinal measurement helps us test what actually improves retention.”</a:t>
            </a:r>
            <a:endParaRPr sz="3200"/>
          </a:p>
        </p:txBody>
      </p:sp>
      <p:sp>
        <p:nvSpPr>
          <p:cNvPr id="215" name="Google Shape;215;p13"/>
          <p:cNvSpPr txBox="1"/>
          <p:nvPr>
            <p:ph idx="1" type="body"/>
          </p:nvPr>
        </p:nvSpPr>
        <p:spPr>
          <a:xfrm>
            <a:off x="822960" y="338328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Descriptive association is not causation.</a:t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Small employee groups require caution.</a:t>
            </a:r>
            <a:endParaRPr sz="1800"/>
          </a:p>
          <a:p>
            <a:pPr indent="-342900" lvl="0" marL="342900" rtl="0" algn="l">
              <a:lnSpc>
                <a:spcPct val="115000"/>
              </a:lnSpc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Further data over time is needed to evaluate interventions.</a:t>
            </a:r>
            <a:endParaRPr sz="1800"/>
          </a:p>
        </p:txBody>
      </p:sp>
      <p:sp>
        <p:nvSpPr>
          <p:cNvPr id="216" name="Google Shape;216;p13"/>
          <p:cNvSpPr txBox="1"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n-US" spc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you. Questions and discussion.</a:t>
            </a:r>
            <a:endParaRPr b="0" i="0" spc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9784080" y="4206240"/>
            <a:ext cx="4023360" cy="4023360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>
                <a:alpha val="3019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881360" y="-1280160"/>
            <a:ext cx="2926080" cy="2926080"/>
          </a:xfrm>
          <a:prstGeom prst="ellipse">
            <a:avLst/>
          </a:prstGeom>
          <a:solidFill>
            <a:schemeClr val="accent2">
              <a:alpha val="34902"/>
            </a:schemeClr>
          </a:solidFill>
          <a:ln cap="flat" cmpd="sng" w="12700">
            <a:solidFill>
              <a:schemeClr val="accent2">
                <a:alpha val="34902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 Attrition">
  <a:themeElements>
    <a:clrScheme name="Soft Attrition">
      <a:dk1>
        <a:srgbClr val="2F3E4E"/>
      </a:dk1>
      <a:lt1>
        <a:srgbClr val="FFFFFF"/>
      </a:lt1>
      <a:dk2>
        <a:srgbClr val="66788A"/>
      </a:dk2>
      <a:lt2>
        <a:srgbClr val="FBF8F3"/>
      </a:lt2>
      <a:accent1>
        <a:srgbClr val="D9786A"/>
      </a:accent1>
      <a:accent2>
        <a:srgbClr val="7F9DB9"/>
      </a:accent2>
      <a:accent3>
        <a:srgbClr val="8FB59F"/>
      </a:accent3>
      <a:accent4>
        <a:srgbClr val="E3B873"/>
      </a:accent4>
      <a:accent5>
        <a:srgbClr val="B7A6C9"/>
      </a:accent5>
      <a:accent6>
        <a:srgbClr val="C5D0DB"/>
      </a:accent6>
      <a:hlink>
        <a:srgbClr val="5B84A8"/>
      </a:hlink>
      <a:folHlink>
        <a:srgbClr val="8FB59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2026-10-11T09:21:19Z</dcterms:created>
  <dc:creator>Harika Donthiri</dc:creator>
</cp:coreProperties>
</file>